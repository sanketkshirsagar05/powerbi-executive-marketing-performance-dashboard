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  <a:srgbClr val="E0E0E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6DD7-4CD6-1FA2-0079-E529D1FC5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5BE71-D4FC-10FD-54F1-C7CB2FB65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4FA77-66F3-D4E7-578E-33F9CB6C8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8C0C-B987-4FB9-9E9F-D472FD461322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93C6F-9901-3D5D-AA0F-033225705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7677E-3FF2-00C6-54A8-2EC539233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2C9E7-96CF-4149-8F1A-FBCB77D2C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166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EFA62-0909-948C-6551-4C25A8DF7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5EDE2-4031-E54C-F8CF-6907E4BAD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735E1-A11C-E05E-8AF2-89BC283A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8C0C-B987-4FB9-9E9F-D472FD461322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8E778-3057-CAA5-178E-C447B411F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C52FF-03B7-C1A2-7DB5-2A55DD893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2C9E7-96CF-4149-8F1A-FBCB77D2C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664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60E58-DC11-F68E-1DA8-6FF1FE584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0D67D-A268-ACD9-2ED1-A50E2504F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54993-FB0B-FDFE-F25F-BEC9F3B7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8C0C-B987-4FB9-9E9F-D472FD461322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065C3-C059-5554-0480-B0F76C59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1399D-287C-8005-A43B-60FD2A32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2C9E7-96CF-4149-8F1A-FBCB77D2C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216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EC2D1-08ED-032B-89F0-AFA410906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5D6B0-5A93-FBCB-DFDE-7FEAC031FA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21DBB-B7F1-4E97-8100-72D9E60D4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382A0-321F-D4F0-47E9-8AB07B27C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8C0C-B987-4FB9-9E9F-D472FD461322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7173D-8D26-D180-3DE3-968F7B744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BEAEE-6787-B8C7-1DDD-FE13426F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2C9E7-96CF-4149-8F1A-FBCB77D2C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793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3C254-A241-0676-08F6-D6191EECC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EEFA2-DB37-FD24-17EC-3D3B6AAED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F0B5D-AF47-1C82-B856-4141EEDC3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F266ED-660B-DF4E-CC66-ECDA829F6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80FF7B-1232-DA0A-D208-09206BC8DF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C202CF-0AA8-0206-2614-C56D6BD6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8C0C-B987-4FB9-9E9F-D472FD461322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10C055-38FA-6872-DD06-8E1178405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16BF4-DC19-3F2C-A7D0-A32E91A5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2C9E7-96CF-4149-8F1A-FBCB77D2C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650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246D-3421-A05A-9593-006E63885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60E116-129B-7E7A-CA91-BC72582E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8C0C-B987-4FB9-9E9F-D472FD461322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D9F94D-EFE7-C4B0-2DA5-EA41EFEB6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4F183-3A19-8828-39AE-B13258A90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2C9E7-96CF-4149-8F1A-FBCB77D2C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267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C4EE01-A6FB-1904-53A8-0521B0A4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8C0C-B987-4FB9-9E9F-D472FD461322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5E9BCA-07A4-94A3-D6B7-87EFEE528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11851-7293-72F2-8DB4-2D0D1AA54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2C9E7-96CF-4149-8F1A-FBCB77D2C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33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3C15-5F7B-0CCA-369E-E45C29D08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A63A7-B738-CA1C-2D2A-00F1C851C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77D84-B54B-FD4A-583D-5B598280F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71F73-001C-7C5B-4DFD-34DD4E786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8C0C-B987-4FB9-9E9F-D472FD461322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8E230-1A90-15D2-A510-1274B9B9C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06EE5-8180-8D0A-49F1-3CFC42B3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2C9E7-96CF-4149-8F1A-FBCB77D2C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212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951A-38E9-4BEB-A157-27553F7C6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EB3AEC-8594-91F7-FA9F-1E7F53E9D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AF0D9C-E362-3BD1-AECD-EE1E95818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E0DB5-AF42-C2B4-8C53-E8A306CCF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8C0C-B987-4FB9-9E9F-D472FD461322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442C2-E68D-67AF-D8F3-F61E07B4E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36CBF-B4EE-A1BA-C1D0-8C2E2F94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2C9E7-96CF-4149-8F1A-FBCB77D2C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171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70736-9998-80E5-4A65-208D54BC2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8143A-2659-19FD-1680-92E8DA335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9EF3E-826A-8185-1E8E-BA6BDAB8C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8C0C-B987-4FB9-9E9F-D472FD461322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17C2E-BDA2-3085-53BB-8F81D4DA5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8C44B-BDA1-8534-D6EC-8F4B322B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2C9E7-96CF-4149-8F1A-FBCB77D2C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957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9C7721-7295-599F-30C1-C91EEAE1B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93995-4C7C-AA7A-E6D0-E5A9EAD0E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D50B3-381B-1E40-9AC4-DA6A33BC7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8C0C-B987-4FB9-9E9F-D472FD461322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8746F-A28F-5886-F86F-E73DEEB38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1E53F-DD2A-9015-D0B1-04BCFDCDF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2C9E7-96CF-4149-8F1A-FBCB77D2C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88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4A02A6-CAAA-D394-45B0-4F809D2F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6BDAE-CF47-7915-F9EB-ABBD09EBF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CF1EF-5D8E-1910-0BA7-CD02F46F40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38C0C-B987-4FB9-9E9F-D472FD461322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D7336-4EC1-69AF-E9EE-F371368A4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77A49-F482-A7FD-59C1-25812D786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2C9E7-96CF-4149-8F1A-FBCB77D2C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224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9CE1A-144A-87E0-8589-110760A9F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7B5E79-9682-9ACC-0E93-79AD338783CC}"/>
              </a:ext>
            </a:extLst>
          </p:cNvPr>
          <p:cNvSpPr/>
          <p:nvPr/>
        </p:nvSpPr>
        <p:spPr>
          <a:xfrm>
            <a:off x="857723" y="65021"/>
            <a:ext cx="10476552" cy="6727958"/>
          </a:xfrm>
          <a:prstGeom prst="roundRect">
            <a:avLst>
              <a:gd name="adj" fmla="val 2888"/>
            </a:avLst>
          </a:prstGeom>
          <a:solidFill>
            <a:srgbClr val="E0E0E0">
              <a:alpha val="6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14D3823-312C-B0F8-85F7-432A83C0E964}"/>
              </a:ext>
            </a:extLst>
          </p:cNvPr>
          <p:cNvSpPr/>
          <p:nvPr/>
        </p:nvSpPr>
        <p:spPr>
          <a:xfrm>
            <a:off x="1000998" y="861258"/>
            <a:ext cx="1872000" cy="1105059"/>
          </a:xfrm>
          <a:prstGeom prst="roundRect">
            <a:avLst>
              <a:gd name="adj" fmla="val 6993"/>
            </a:avLst>
          </a:prstGeom>
          <a:solidFill>
            <a:srgbClr val="DCE2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6072F49-D366-6588-DE65-5458E5285B13}"/>
              </a:ext>
            </a:extLst>
          </p:cNvPr>
          <p:cNvSpPr/>
          <p:nvPr/>
        </p:nvSpPr>
        <p:spPr>
          <a:xfrm>
            <a:off x="3062569" y="861258"/>
            <a:ext cx="1872000" cy="1105059"/>
          </a:xfrm>
          <a:prstGeom prst="roundRect">
            <a:avLst>
              <a:gd name="adj" fmla="val 6993"/>
            </a:avLst>
          </a:prstGeom>
          <a:solidFill>
            <a:srgbClr val="DFDF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43BAAE-518C-CE40-D2CD-FA9E7704F6D4}"/>
              </a:ext>
            </a:extLst>
          </p:cNvPr>
          <p:cNvSpPr/>
          <p:nvPr/>
        </p:nvSpPr>
        <p:spPr>
          <a:xfrm>
            <a:off x="1000997" y="2113962"/>
            <a:ext cx="5004000" cy="2524026"/>
          </a:xfrm>
          <a:prstGeom prst="roundRect">
            <a:avLst>
              <a:gd name="adj" fmla="val 6993"/>
            </a:avLst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C4B8374-20E5-34D8-ABDA-824C33AFE8D8}"/>
              </a:ext>
            </a:extLst>
          </p:cNvPr>
          <p:cNvSpPr/>
          <p:nvPr/>
        </p:nvSpPr>
        <p:spPr>
          <a:xfrm>
            <a:off x="6187005" y="2109882"/>
            <a:ext cx="4987022" cy="2524026"/>
          </a:xfrm>
          <a:prstGeom prst="roundRect">
            <a:avLst>
              <a:gd name="adj" fmla="val 6993"/>
            </a:avLst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897A144-F9C1-38E0-EF1E-A9CE6FB4EA70}"/>
              </a:ext>
            </a:extLst>
          </p:cNvPr>
          <p:cNvSpPr/>
          <p:nvPr/>
        </p:nvSpPr>
        <p:spPr>
          <a:xfrm>
            <a:off x="5124140" y="861258"/>
            <a:ext cx="1872000" cy="1105059"/>
          </a:xfrm>
          <a:prstGeom prst="roundRect">
            <a:avLst>
              <a:gd name="adj" fmla="val 6993"/>
            </a:avLst>
          </a:prstGeom>
          <a:solidFill>
            <a:srgbClr val="E1E7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706E35E-DBCE-A70C-754A-609BBCDC660A}"/>
              </a:ext>
            </a:extLst>
          </p:cNvPr>
          <p:cNvSpPr/>
          <p:nvPr/>
        </p:nvSpPr>
        <p:spPr>
          <a:xfrm>
            <a:off x="7181787" y="882274"/>
            <a:ext cx="1872000" cy="1105059"/>
          </a:xfrm>
          <a:prstGeom prst="roundRect">
            <a:avLst>
              <a:gd name="adj" fmla="val 6993"/>
            </a:avLst>
          </a:prstGeom>
          <a:solidFill>
            <a:srgbClr val="E4DA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1BA9415-9883-FC35-46E7-9670A2FB2E09}"/>
              </a:ext>
            </a:extLst>
          </p:cNvPr>
          <p:cNvSpPr/>
          <p:nvPr/>
        </p:nvSpPr>
        <p:spPr>
          <a:xfrm>
            <a:off x="9247280" y="882274"/>
            <a:ext cx="1872000" cy="1105059"/>
          </a:xfrm>
          <a:prstGeom prst="roundRect">
            <a:avLst>
              <a:gd name="adj" fmla="val 6993"/>
            </a:avLst>
          </a:prstGeom>
          <a:solidFill>
            <a:srgbClr val="D0D2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6AF7F4-6407-7D8C-DE36-94D3889699D5}"/>
              </a:ext>
            </a:extLst>
          </p:cNvPr>
          <p:cNvSpPr/>
          <p:nvPr/>
        </p:nvSpPr>
        <p:spPr>
          <a:xfrm>
            <a:off x="1000997" y="4756457"/>
            <a:ext cx="10173030" cy="1904215"/>
          </a:xfrm>
          <a:prstGeom prst="roundRect">
            <a:avLst>
              <a:gd name="adj" fmla="val 6993"/>
            </a:avLst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8D7430-FCFE-6018-601C-9A84EDD07038}"/>
              </a:ext>
            </a:extLst>
          </p:cNvPr>
          <p:cNvSpPr txBox="1"/>
          <p:nvPr/>
        </p:nvSpPr>
        <p:spPr>
          <a:xfrm>
            <a:off x="903102" y="249980"/>
            <a:ext cx="586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>
                <a:ea typeface="Cambria" panose="02040503050406030204" pitchFamily="18" charset="0"/>
              </a:rPr>
              <a:t>Executive Marketing Performance Overview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8804590-C9AA-0202-7AB2-6BA44BF34B19}"/>
              </a:ext>
            </a:extLst>
          </p:cNvPr>
          <p:cNvSpPr txBox="1"/>
          <p:nvPr/>
        </p:nvSpPr>
        <p:spPr>
          <a:xfrm>
            <a:off x="1072720" y="928305"/>
            <a:ext cx="997486" cy="32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ea typeface="Cambria" panose="02040503050406030204" pitchFamily="18" charset="0"/>
              </a:rPr>
              <a:t>Revenue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B44919-AD1E-A6C8-1B5B-CDBC78D89BF4}"/>
              </a:ext>
            </a:extLst>
          </p:cNvPr>
          <p:cNvSpPr txBox="1"/>
          <p:nvPr/>
        </p:nvSpPr>
        <p:spPr>
          <a:xfrm>
            <a:off x="3075222" y="928305"/>
            <a:ext cx="1673952" cy="32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ea typeface="Cambria" panose="02040503050406030204" pitchFamily="18" charset="0"/>
              </a:rPr>
              <a:t>Marketing Spend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CFBBB6C-96D2-F8C6-0D45-A86F868DAA94}"/>
              </a:ext>
            </a:extLst>
          </p:cNvPr>
          <p:cNvSpPr txBox="1"/>
          <p:nvPr/>
        </p:nvSpPr>
        <p:spPr>
          <a:xfrm>
            <a:off x="5147228" y="928305"/>
            <a:ext cx="927982" cy="32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ea typeface="Cambria" panose="02040503050406030204" pitchFamily="18" charset="0"/>
              </a:rPr>
              <a:t>ROI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AA58760-CEDD-B523-4B8B-A222D43EA1A3}"/>
              </a:ext>
            </a:extLst>
          </p:cNvPr>
          <p:cNvSpPr txBox="1"/>
          <p:nvPr/>
        </p:nvSpPr>
        <p:spPr>
          <a:xfrm>
            <a:off x="7244259" y="928305"/>
            <a:ext cx="851430" cy="32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ea typeface="Cambria" panose="02040503050406030204" pitchFamily="18" charset="0"/>
              </a:rPr>
              <a:t>CAC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7FE756-9665-8ECF-BABF-B7ADD877DD9B}"/>
              </a:ext>
            </a:extLst>
          </p:cNvPr>
          <p:cNvSpPr txBox="1"/>
          <p:nvPr/>
        </p:nvSpPr>
        <p:spPr>
          <a:xfrm>
            <a:off x="9318135" y="928305"/>
            <a:ext cx="1688712" cy="32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ea typeface="Cambria" panose="02040503050406030204" pitchFamily="18" charset="0"/>
              </a:rPr>
              <a:t>Conversion Rate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F26A14-0CA1-118C-D313-E1BED3E48987}"/>
              </a:ext>
            </a:extLst>
          </p:cNvPr>
          <p:cNvSpPr txBox="1"/>
          <p:nvPr/>
        </p:nvSpPr>
        <p:spPr>
          <a:xfrm>
            <a:off x="1060067" y="2164904"/>
            <a:ext cx="255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ea typeface="Cambria" panose="02040503050406030204" pitchFamily="18" charset="0"/>
              </a:rPr>
              <a:t>Revenue vs Spend Trend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29EC41-D71F-B62E-80C5-C6037AF60EE8}"/>
              </a:ext>
            </a:extLst>
          </p:cNvPr>
          <p:cNvSpPr txBox="1"/>
          <p:nvPr/>
        </p:nvSpPr>
        <p:spPr>
          <a:xfrm>
            <a:off x="6297105" y="2175412"/>
            <a:ext cx="2449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ea typeface="Cambria" panose="02040503050406030204" pitchFamily="18" charset="0"/>
              </a:rPr>
              <a:t>Channel Performance </a:t>
            </a:r>
          </a:p>
        </p:txBody>
      </p:sp>
    </p:spTree>
    <p:extLst>
      <p:ext uri="{BB962C8B-B14F-4D97-AF65-F5344CB8AC3E}">
        <p14:creationId xmlns:p14="http://schemas.microsoft.com/office/powerpoint/2010/main" val="965438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Sanket Kshirsagar</dc:creator>
  <cp:lastModifiedBy>Sanket Kshirsagar</cp:lastModifiedBy>
  <cp:revision>3</cp:revision>
  <dcterms:created xsi:type="dcterms:W3CDTF">2026-01-15T07:31:38Z</dcterms:created>
  <dcterms:modified xsi:type="dcterms:W3CDTF">2026-01-20T05:53:40Z</dcterms:modified>
</cp:coreProperties>
</file>